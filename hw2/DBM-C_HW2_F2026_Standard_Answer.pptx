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515600" cy="320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400" b="0" i="0" u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Carnegie Mellon University  ·  Heinz College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51560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800" b="1" i="0" u="none">
                <a:solidFill>
                  <a:srgbClr val="1A1A2E"/>
                </a:solidFill>
                <a:latin typeface="Times New Roman"/>
                <a:ea typeface="Times New Roman"/>
                <a:cs typeface="Times New Roman"/>
              </a:rPr>
              <a:t>95–703 C: Database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23160"/>
            <a:ext cx="1051560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Homework #2  —  Standard Solution (TA Answer Key)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71800"/>
            <a:ext cx="10515600" cy="320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600" b="0" i="0" u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Fall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429000"/>
            <a:ext cx="5669280" cy="1828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703320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 Conceptual model: ER diagram without attributes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87368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 Many-to-many relationships transformed into composite entities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471416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 Logical model: relational schema  (PK underlined, FK marked with @)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89320"/>
            <a:ext cx="1024128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200" b="0" i="1" u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Use this deck as the in-class key.  Cardinality uses (min, max) look-across, matching the Painter-model template.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93268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100" b="0" i="0" u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95–703 C: Database Management   ·   Homework #2   ·   Fall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47472"/>
            <a:ext cx="11521440" cy="32918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000" b="1" i="0" u="none">
                <a:solidFill>
                  <a:srgbClr val="1A1A2E"/>
                </a:solidFill>
                <a:latin typeface="Times New Roman"/>
                <a:ea typeface="Times New Roman"/>
                <a:cs typeface="Times New Roman"/>
              </a:rPr>
              <a:t>1.  ER Diagram  (no attributes; M:N → composite entities)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713232"/>
            <a:ext cx="11548872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32103" y="2084832"/>
            <a:ext cx="1554481" cy="0"/>
          </a:xfrm>
          <a:prstGeom prst="line">
            <a:avLst/>
          </a:prstGeom>
          <a:ln w="1460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386584" y="2084832"/>
            <a:ext cx="1517904" cy="0"/>
          </a:xfrm>
          <a:prstGeom prst="line">
            <a:avLst/>
          </a:prstGeom>
          <a:ln w="1460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904488" y="2084832"/>
            <a:ext cx="0" cy="813816"/>
          </a:xfrm>
          <a:prstGeom prst="line">
            <a:avLst/>
          </a:prstGeom>
          <a:ln w="1460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3895344" y="2898648"/>
            <a:ext cx="9144" cy="795528"/>
          </a:xfrm>
          <a:prstGeom prst="line">
            <a:avLst/>
          </a:prstGeom>
          <a:ln w="1460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895344" y="3694176"/>
            <a:ext cx="9143" cy="786384"/>
          </a:xfrm>
          <a:prstGeom prst="line">
            <a:avLst/>
          </a:prstGeom>
          <a:ln w="1460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904487" y="4480560"/>
            <a:ext cx="0" cy="694944"/>
          </a:xfrm>
          <a:prstGeom prst="line">
            <a:avLst/>
          </a:prstGeom>
          <a:ln w="1460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598664" y="1005840"/>
            <a:ext cx="0" cy="548640"/>
          </a:xfrm>
          <a:prstGeom prst="line">
            <a:avLst/>
          </a:prstGeom>
          <a:ln w="1460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598664" y="1554480"/>
            <a:ext cx="0" cy="530352"/>
          </a:xfrm>
          <a:prstGeom prst="line">
            <a:avLst/>
          </a:prstGeom>
          <a:ln w="1460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598664" y="2084832"/>
            <a:ext cx="1755647" cy="9144"/>
          </a:xfrm>
          <a:prstGeom prst="line">
            <a:avLst/>
          </a:prstGeom>
          <a:ln w="1460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9354311" y="2084832"/>
            <a:ext cx="1773937" cy="9144"/>
          </a:xfrm>
          <a:prstGeom prst="line">
            <a:avLst/>
          </a:prstGeom>
          <a:ln w="1460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952744" y="2084832"/>
            <a:ext cx="1645920" cy="466344"/>
          </a:xfrm>
          <a:prstGeom prst="line">
            <a:avLst/>
          </a:prstGeom>
          <a:ln w="1460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3895344" y="2551176"/>
            <a:ext cx="2057400" cy="1143000"/>
          </a:xfrm>
          <a:prstGeom prst="line">
            <a:avLst/>
          </a:prstGeom>
          <a:ln w="1460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895344" y="3694176"/>
            <a:ext cx="1947672" cy="9144"/>
          </a:xfrm>
          <a:prstGeom prst="line">
            <a:avLst/>
          </a:prstGeom>
          <a:ln w="1460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843016" y="3694176"/>
            <a:ext cx="1773936" cy="9144"/>
          </a:xfrm>
          <a:prstGeom prst="line">
            <a:avLst/>
          </a:prstGeom>
          <a:ln w="1460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616952" y="3694176"/>
            <a:ext cx="1682496" cy="0"/>
          </a:xfrm>
          <a:prstGeom prst="line">
            <a:avLst/>
          </a:prstGeom>
          <a:ln w="1460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299448" y="3694176"/>
            <a:ext cx="1545336" cy="0"/>
          </a:xfrm>
          <a:prstGeom prst="line">
            <a:avLst/>
          </a:prstGeom>
          <a:ln w="1460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16952" y="3694176"/>
            <a:ext cx="0" cy="777240"/>
          </a:xfrm>
          <a:prstGeom prst="line">
            <a:avLst/>
          </a:prstGeom>
          <a:ln w="1460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616952" y="4471416"/>
            <a:ext cx="0" cy="704088"/>
          </a:xfrm>
          <a:prstGeom prst="line">
            <a:avLst/>
          </a:prstGeom>
          <a:ln w="1460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844784" y="3694176"/>
            <a:ext cx="960120" cy="539496"/>
          </a:xfrm>
          <a:prstGeom prst="line">
            <a:avLst/>
          </a:prstGeom>
          <a:ln w="1460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11128248" y="2084832"/>
            <a:ext cx="676656" cy="2148840"/>
          </a:xfrm>
          <a:prstGeom prst="line">
            <a:avLst/>
          </a:prstGeom>
          <a:ln w="1460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7616952" y="4233672"/>
            <a:ext cx="4187952" cy="941832"/>
          </a:xfrm>
          <a:prstGeom prst="line">
            <a:avLst/>
          </a:prstGeom>
          <a:ln w="1460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0680192" y="4233672"/>
            <a:ext cx="1124712" cy="941832"/>
          </a:xfrm>
          <a:prstGeom prst="line">
            <a:avLst/>
          </a:prstGeom>
          <a:ln w="1460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82880" y="1920240"/>
            <a:ext cx="1298448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SUPPLIER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20" y="1883664"/>
            <a:ext cx="1481328" cy="402336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PROCUREMENT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10128" y="1920240"/>
            <a:ext cx="1188720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ITEM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54680" y="2670048"/>
            <a:ext cx="1499616" cy="45720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PRODUCT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ASSEMBLY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3529584"/>
            <a:ext cx="1389888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PRODUCT</a:t>
            </a:r>
          </a:p>
        </p:txBody>
      </p:sp>
      <p:sp>
        <p:nvSpPr>
          <p:cNvPr id="33" name="Diamond 32"/>
          <p:cNvSpPr/>
          <p:nvPr/>
        </p:nvSpPr>
        <p:spPr>
          <a:xfrm>
            <a:off x="3072384" y="4187952"/>
            <a:ext cx="1664208" cy="585216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INCLUDE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27248" y="5010912"/>
            <a:ext cx="1554480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PRODUCT_LINE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03720" y="841248"/>
            <a:ext cx="1389888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CUSTOMER</a:t>
            </a:r>
          </a:p>
        </p:txBody>
      </p:sp>
      <p:sp>
        <p:nvSpPr>
          <p:cNvPr id="36" name="Diamond 35"/>
          <p:cNvSpPr/>
          <p:nvPr/>
        </p:nvSpPr>
        <p:spPr>
          <a:xfrm>
            <a:off x="6784848" y="1280160"/>
            <a:ext cx="1627632" cy="54864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SUBMIT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03720" y="1920240"/>
            <a:ext cx="1389888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ORDER</a:t>
            </a:r>
          </a:p>
        </p:txBody>
      </p:sp>
      <p:sp>
        <p:nvSpPr>
          <p:cNvPr id="38" name="Diamond 37"/>
          <p:cNvSpPr/>
          <p:nvPr/>
        </p:nvSpPr>
        <p:spPr>
          <a:xfrm>
            <a:off x="8485632" y="1801368"/>
            <a:ext cx="1737360" cy="585216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PROCESS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405872" y="1920240"/>
            <a:ext cx="1444752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SALES_REP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30368" y="2359152"/>
            <a:ext cx="1444752" cy="384048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ORDER_LINE</a:t>
            </a:r>
          </a:p>
        </p:txBody>
      </p:sp>
      <p:sp>
        <p:nvSpPr>
          <p:cNvPr id="41" name="Diamond 40"/>
          <p:cNvSpPr/>
          <p:nvPr/>
        </p:nvSpPr>
        <p:spPr>
          <a:xfrm>
            <a:off x="5010912" y="3410712"/>
            <a:ext cx="1664208" cy="585216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PRODUCE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39712" y="3529584"/>
            <a:ext cx="1554480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WORK_CENTER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77072" y="3493008"/>
            <a:ext cx="1444752" cy="402336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ASSIGNMENT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95560" y="3529584"/>
            <a:ext cx="1298448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EMPLOYEE</a:t>
            </a:r>
          </a:p>
        </p:txBody>
      </p:sp>
      <p:sp>
        <p:nvSpPr>
          <p:cNvPr id="45" name="Diamond 44"/>
          <p:cNvSpPr/>
          <p:nvPr/>
        </p:nvSpPr>
        <p:spPr>
          <a:xfrm>
            <a:off x="6839712" y="4187952"/>
            <a:ext cx="1554480" cy="56692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MANAGE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31152" y="5010912"/>
            <a:ext cx="1371600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MANAGER</a:t>
            </a:r>
          </a:p>
        </p:txBody>
      </p:sp>
      <p:sp>
        <p:nvSpPr>
          <p:cNvPr id="47" name="Oval 46"/>
          <p:cNvSpPr/>
          <p:nvPr/>
        </p:nvSpPr>
        <p:spPr>
          <a:xfrm>
            <a:off x="11594592" y="4023360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02368" y="5010912"/>
            <a:ext cx="1755648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ADMIN_ASSISTANT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353312" y="1682496"/>
            <a:ext cx="47548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(1,1)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353312" y="2286000"/>
            <a:ext cx="47548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(0,N)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26080" y="1682496"/>
            <a:ext cx="47548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(0,N)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26080" y="2286000"/>
            <a:ext cx="47548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(1,1)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26280" y="1920240"/>
            <a:ext cx="47548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(1,1)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633472" y="2697480"/>
            <a:ext cx="47548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(1,N)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633472" y="3108960"/>
            <a:ext cx="47548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(1,N)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33472" y="3529584"/>
            <a:ext cx="47548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(1,1)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73168" y="4315968"/>
            <a:ext cx="47548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(1,N)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773168" y="5010912"/>
            <a:ext cx="47548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(1,1)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39327" y="859536"/>
            <a:ext cx="47548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(1,1)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0" y="1938528"/>
            <a:ext cx="47548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(0,N)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19088" y="2267712"/>
            <a:ext cx="47548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(1,1)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0448" y="2761488"/>
            <a:ext cx="47548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(1,N)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74920" y="2176272"/>
            <a:ext cx="47548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(0,N)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617720" y="3200400"/>
            <a:ext cx="47548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(1,1)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39327" y="1627632"/>
            <a:ext cx="47548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(0,N)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168128" y="1627632"/>
            <a:ext cx="47548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(1,1)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709160" y="3858768"/>
            <a:ext cx="47548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(0,N)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583680" y="3246120"/>
            <a:ext cx="47548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(1,1)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94192" y="3246120"/>
            <a:ext cx="47548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(1,1)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394192" y="3913632"/>
            <a:ext cx="47548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(5,N)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921240" y="3913632"/>
            <a:ext cx="47548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(1,N)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921240" y="3246120"/>
            <a:ext cx="47548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(1,1)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430768" y="4297680"/>
            <a:ext cx="47548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(1,1)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430768" y="5010912"/>
            <a:ext cx="47548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(1,1)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01168" y="5486400"/>
            <a:ext cx="347472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03504" y="5486400"/>
            <a:ext cx="2194560" cy="219456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Entity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01168" y="5760720"/>
            <a:ext cx="347472" cy="219456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3504" y="5760720"/>
            <a:ext cx="2468880" cy="219456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Composite entity (from M:N)</a:t>
            </a:r>
          </a:p>
        </p:txBody>
      </p:sp>
      <p:sp>
        <p:nvSpPr>
          <p:cNvPr id="79" name="Diamond 78"/>
          <p:cNvSpPr/>
          <p:nvPr/>
        </p:nvSpPr>
        <p:spPr>
          <a:xfrm>
            <a:off x="164592" y="5998464"/>
            <a:ext cx="420624" cy="29260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3504" y="6035040"/>
            <a:ext cx="2377440" cy="219456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Relationship (1:1 or 1:N)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108960" y="6035040"/>
            <a:ext cx="4023360" cy="219456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  =  overlapping, partial specialization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20040" y="6565392"/>
            <a:ext cx="8686800" cy="2286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900" b="0" i="0" u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Standard solution  ·  ER: Chen notation with (min, max) look-across  ·  No attributes on ER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607040" y="6565392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/>
            <a:r>
              <a:rPr sz="900" b="0" i="0" u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93268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100" b="0" i="0" u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95–703 C: Database Management   ·   Homework #2   ·   Fall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47472"/>
            <a:ext cx="11521440" cy="32918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000" b="1" i="0" u="none">
                <a:solidFill>
                  <a:srgbClr val="1A1A2E"/>
                </a:solidFill>
                <a:latin typeface="Times New Roman"/>
                <a:ea typeface="Times New Roman"/>
                <a:cs typeface="Times New Roman"/>
              </a:rPr>
              <a:t>2.  Relational schema   (PK underlined;  FK marked with @)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713232"/>
            <a:ext cx="11548872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804672"/>
            <a:ext cx="1152144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200" b="0" i="0" u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Each relation maps one entity, composite entity, or subclass.  Identifying FKs that are also part of the PK are both underlined and tagged @.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" y="1115568"/>
            <a:ext cx="5623560" cy="477316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63640" y="1115568"/>
            <a:ext cx="5623560" cy="477316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170432"/>
            <a:ext cx="5440680" cy="484632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>
              <a:lnSpc>
                <a:spcPct val="108000"/>
              </a:lnSpc>
              <a:spcBef>
                <a:spcPts val="700"/>
              </a:spcBef>
              <a:spcAft>
                <a:spcPts val="100"/>
              </a:spcAft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SUPPLIER:  </a:t>
            </a:r>
            <a:r>
              <a:rPr sz="14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Supplier_ID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Supplier_Name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Supplier_Address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Supplier_Phone</a:t>
            </a:r>
          </a:p>
          <a:p>
            <a:pPr algn="l">
              <a:lnSpc>
                <a:spcPct val="108000"/>
              </a:lnSpc>
              <a:spcBef>
                <a:spcPts val="700"/>
              </a:spcBef>
              <a:spcAft>
                <a:spcPts val="100"/>
              </a:spcAft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PROCUREMENT:  </a:t>
            </a:r>
            <a:r>
              <a:rPr sz="14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Item_ID</a:t>
            </a:r>
            <a:r>
              <a:rPr sz="14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@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4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Procurement_Date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Supplier_ID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@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Quantity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Unit_Price</a:t>
            </a:r>
          </a:p>
          <a:p>
            <a:pPr algn="l">
              <a:lnSpc>
                <a:spcPct val="108000"/>
              </a:lnSpc>
              <a:spcBef>
                <a:spcPts val="700"/>
              </a:spcBef>
              <a:spcAft>
                <a:spcPts val="100"/>
              </a:spcAft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ITEM:  </a:t>
            </a:r>
            <a:r>
              <a:rPr sz="14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Item_ID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Description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Average_Unit_Cost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Units_On_Hand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Reorder_Point</a:t>
            </a:r>
          </a:p>
          <a:p>
            <a:pPr algn="l">
              <a:lnSpc>
                <a:spcPct val="108000"/>
              </a:lnSpc>
              <a:spcBef>
                <a:spcPts val="700"/>
              </a:spcBef>
              <a:spcAft>
                <a:spcPts val="100"/>
              </a:spcAft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PRODUCT_ASSEMBLY:  </a:t>
            </a:r>
            <a:r>
              <a:rPr sz="14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Product_ID</a:t>
            </a:r>
            <a:r>
              <a:rPr sz="14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@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4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Item_ID</a:t>
            </a:r>
            <a:r>
              <a:rPr sz="14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@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Quantity_Needed</a:t>
            </a:r>
          </a:p>
          <a:p>
            <a:pPr algn="l">
              <a:lnSpc>
                <a:spcPct val="108000"/>
              </a:lnSpc>
              <a:spcBef>
                <a:spcPts val="700"/>
              </a:spcBef>
              <a:spcAft>
                <a:spcPts val="100"/>
              </a:spcAft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PRODUCT:  </a:t>
            </a:r>
            <a:r>
              <a:rPr sz="14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Product_ID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Product_Name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Product_Line_ID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@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Work_Center_ID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@</a:t>
            </a:r>
          </a:p>
          <a:p>
            <a:pPr algn="l">
              <a:lnSpc>
                <a:spcPct val="108000"/>
              </a:lnSpc>
              <a:spcBef>
                <a:spcPts val="700"/>
              </a:spcBef>
              <a:spcAft>
                <a:spcPts val="100"/>
              </a:spcAft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PRODUCT_LINE:  </a:t>
            </a:r>
            <a:r>
              <a:rPr sz="14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Product_Line_ID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Product_Line_Name</a:t>
            </a:r>
          </a:p>
          <a:p>
            <a:pPr algn="l">
              <a:lnSpc>
                <a:spcPct val="108000"/>
              </a:lnSpc>
              <a:spcBef>
                <a:spcPts val="700"/>
              </a:spcBef>
              <a:spcAft>
                <a:spcPts val="100"/>
              </a:spcAft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CUSTOMER:  </a:t>
            </a:r>
            <a:r>
              <a:rPr sz="14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Customer_ID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Customer_Name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Customer_Email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Customer_Address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Customer_Phone</a:t>
            </a:r>
          </a:p>
          <a:p>
            <a:pPr algn="l">
              <a:lnSpc>
                <a:spcPct val="108000"/>
              </a:lnSpc>
              <a:spcBef>
                <a:spcPts val="700"/>
              </a:spcBef>
              <a:spcAft>
                <a:spcPts val="100"/>
              </a:spcAft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ORDER:  </a:t>
            </a:r>
            <a:r>
              <a:rPr sz="14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Order_ID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Order_Date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Customer_ID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@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Sales_Rep_ID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@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170432"/>
            <a:ext cx="5440680" cy="484632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>
              <a:lnSpc>
                <a:spcPct val="108000"/>
              </a:lnSpc>
              <a:spcBef>
                <a:spcPts val="700"/>
              </a:spcBef>
              <a:spcAft>
                <a:spcPts val="100"/>
              </a:spcAft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ORDER_LINE:  </a:t>
            </a:r>
            <a:r>
              <a:rPr sz="14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Order_ID</a:t>
            </a:r>
            <a:r>
              <a:rPr sz="14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@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4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Product_ID</a:t>
            </a:r>
            <a:r>
              <a:rPr sz="14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@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Quantity_Ordered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Unit_Price</a:t>
            </a:r>
          </a:p>
          <a:p>
            <a:pPr algn="l">
              <a:lnSpc>
                <a:spcPct val="108000"/>
              </a:lnSpc>
              <a:spcBef>
                <a:spcPts val="700"/>
              </a:spcBef>
              <a:spcAft>
                <a:spcPts val="100"/>
              </a:spcAft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WORK_CENTER:  </a:t>
            </a:r>
            <a:r>
              <a:rPr sz="14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Work_Center_ID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Work_Center_Name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Manager_ID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@</a:t>
            </a:r>
          </a:p>
          <a:p>
            <a:pPr algn="l">
              <a:lnSpc>
                <a:spcPct val="108000"/>
              </a:lnSpc>
              <a:spcBef>
                <a:spcPts val="700"/>
              </a:spcBef>
              <a:spcAft>
                <a:spcPts val="100"/>
              </a:spcAft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ASSIGNMENT:  </a:t>
            </a:r>
            <a:r>
              <a:rPr sz="14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Employee_ID</a:t>
            </a:r>
            <a:r>
              <a:rPr sz="14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@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4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Work_Center_ID</a:t>
            </a:r>
            <a:r>
              <a:rPr sz="14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@</a:t>
            </a:r>
          </a:p>
          <a:p>
            <a:pPr algn="l">
              <a:lnSpc>
                <a:spcPct val="108000"/>
              </a:lnSpc>
              <a:spcBef>
                <a:spcPts val="700"/>
              </a:spcBef>
              <a:spcAft>
                <a:spcPts val="100"/>
              </a:spcAft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EMPLOYEE:  </a:t>
            </a:r>
            <a:r>
              <a:rPr sz="14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Employee_ID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First_Name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Last_Name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Address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Salary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Title</a:t>
            </a:r>
          </a:p>
          <a:p>
            <a:pPr algn="l">
              <a:lnSpc>
                <a:spcPct val="108000"/>
              </a:lnSpc>
              <a:spcBef>
                <a:spcPts val="700"/>
              </a:spcBef>
              <a:spcAft>
                <a:spcPts val="100"/>
              </a:spcAft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MANAGER:  </a:t>
            </a:r>
            <a:r>
              <a:rPr sz="14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Employee_ID</a:t>
            </a:r>
            <a:r>
              <a:rPr sz="14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@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Driver_License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Budget_Amount</a:t>
            </a:r>
          </a:p>
          <a:p>
            <a:pPr algn="l">
              <a:lnSpc>
                <a:spcPct val="108000"/>
              </a:lnSpc>
              <a:spcBef>
                <a:spcPts val="700"/>
              </a:spcBef>
              <a:spcAft>
                <a:spcPts val="100"/>
              </a:spcAft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ADMIN_ASSISTANT:  </a:t>
            </a:r>
            <a:r>
              <a:rPr sz="14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Employee_ID</a:t>
            </a:r>
            <a:r>
              <a:rPr sz="14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@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Accounting_Training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MS_Office_Level</a:t>
            </a:r>
          </a:p>
          <a:p>
            <a:pPr algn="l">
              <a:lnSpc>
                <a:spcPct val="108000"/>
              </a:lnSpc>
              <a:spcBef>
                <a:spcPts val="700"/>
              </a:spcBef>
              <a:spcAft>
                <a:spcPts val="100"/>
              </a:spcAft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SALES_REP:  </a:t>
            </a:r>
            <a:r>
              <a:rPr sz="14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Employee_ID</a:t>
            </a:r>
            <a:r>
              <a:rPr sz="14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@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Sales_Area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5989320"/>
            <a:ext cx="11338560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100" b="0" i="0" u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Notes:  WORK_CENTER.Manager_ID@ is unique (1:1 with MANAGER).  CUSTOMER.Customer_Email may be null until the first order.  (5,N) on ASSIGNMENT is an ER constraint — not encoded by the relation keys alone.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565392"/>
            <a:ext cx="8686800" cy="2286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900" b="0" i="0" u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Standard solution  ·  ER: Chen notation with (min, max) look-across  ·  No attributes on 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65392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/>
            <a:r>
              <a:rPr sz="900" b="0" i="0" u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93268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100" b="0" i="0" u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95–703 C: Database Management   ·   Homework #2   ·   Fall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47472"/>
            <a:ext cx="11521440" cy="32918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000" b="1" i="0" u="none">
                <a:solidFill>
                  <a:srgbClr val="1A1A2E"/>
                </a:solidFill>
                <a:latin typeface="Times New Roman"/>
                <a:ea typeface="Times New Roman"/>
                <a:cs typeface="Times New Roman"/>
              </a:rPr>
              <a:t>3.  Mapping decisions  ·  what to accept  ·  common errors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713232"/>
            <a:ext cx="11548872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2608" y="868680"/>
            <a:ext cx="5623560" cy="26974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941832"/>
            <a:ext cx="53492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400" b="1" i="0" u="none">
                <a:solidFill>
                  <a:srgbClr val="1A1A2E"/>
                </a:solidFill>
                <a:latin typeface="Times New Roman"/>
                <a:ea typeface="Times New Roman"/>
                <a:cs typeface="Times New Roman"/>
              </a:rPr>
              <a:t>Composite entities (only M:N)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216152"/>
            <a:ext cx="5413248" cy="2286000"/>
          </a:xfrm>
          <a:prstGeom prst="rect">
            <a:avLst/>
          </a:prstGeom>
          <a:noFill/>
        </p:spPr>
        <p:txBody>
          <a:bodyPr wrap="square" lIns="54864" rIns="54864" tIns="0" bIns="36576" anchor="t"/>
          <a:lstStyle/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PROCUREMENT  —  SUPPLIER ↔ ITEM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PRODUCT_ASSEMBLY  —  ITEM ↔ PRODUCT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ORDER_LINE  —  ORDER ↔ PRODUCT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ASSIGNMENT  —  EMPLOYEE ↔ WORK_CENTER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1:1 and 1:N stay diamonds; FK goes into the N-side (or either side of 1:1).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868680"/>
            <a:ext cx="5623560" cy="26974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1655" y="941832"/>
            <a:ext cx="53492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400" b="1" i="0" u="none">
                <a:solidFill>
                  <a:srgbClr val="1A1A2E"/>
                </a:solidFill>
                <a:latin typeface="Times New Roman"/>
                <a:ea typeface="Times New Roman"/>
                <a:cs typeface="Times New Roman"/>
              </a:rPr>
              <a:t>Required cardinalities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79" y="1216152"/>
            <a:ext cx="5413248" cy="2286000"/>
          </a:xfrm>
          <a:prstGeom prst="rect">
            <a:avLst/>
          </a:prstGeom>
          <a:noFill/>
        </p:spPr>
        <p:txBody>
          <a:bodyPr wrap="square" lIns="54864" rIns="54864" tIns="0" bIns="36576" anchor="t"/>
          <a:lstStyle/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Supplier may supply 0..N items over time; an item at a given date has 1 supplier.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Item (1,N) products; product (1,N) items; store Quantity_Needed.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Customer (0,N) orders (potential customers); each order (1,1) customer.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Order (1,N) products; product (0,N) orders; store qty + unit price on ORDER_LINE.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Work center (0,N) products; each product (1,1) work center.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Employee (1,N) centers; work center (5,N) employees.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Each work center (1,1) manager; each manager (1,1) work center.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" y="3703320"/>
            <a:ext cx="5623560" cy="26974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" y="3776472"/>
            <a:ext cx="53492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400" b="1" i="0" u="none">
                <a:solidFill>
                  <a:srgbClr val="1A1A2E"/>
                </a:solidFill>
                <a:latin typeface="Times New Roman"/>
                <a:ea typeface="Times New Roman"/>
                <a:cs typeface="Times New Roman"/>
              </a:rPr>
              <a:t>Schema details worth full credit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4050791"/>
            <a:ext cx="5413248" cy="2286000"/>
          </a:xfrm>
          <a:prstGeom prst="rect">
            <a:avLst/>
          </a:prstGeom>
          <a:noFill/>
        </p:spPr>
        <p:txBody>
          <a:bodyPr wrap="square" lIns="54864" rIns="54864" tIns="0" bIns="36576" anchor="t"/>
          <a:lstStyle/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PROCUREMENT PK = (Item_ID, Procurement_Date); Supplier_ID@ is NOT in the PK — this enforces “at that time, one supplier”.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ORDER.Customer_ID@ and ORDER.Sales_Rep_ID@ both mandatory (every order has one customer and one sales rep).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WORK_CENTER.Manager_ID@ references MANAGER and is unique (1:1).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Subclasses: MANAGER / SALES_REP / ADMIN_ASSISTANT with Employee_ID@ as PK/FK (overlapping, partial ISA).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Customer_Email lives on CUSTOMER (nullable for potential customers).  Sales-rep Email is a subclass attribute.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703320"/>
            <a:ext cx="5623560" cy="26974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5" y="3776472"/>
            <a:ext cx="53492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400" b="1" i="0" u="none">
                <a:solidFill>
                  <a:srgbClr val="1A1A2E"/>
                </a:solidFill>
                <a:latin typeface="Times New Roman"/>
                <a:ea typeface="Times New Roman"/>
                <a:cs typeface="Times New Roman"/>
              </a:rPr>
              <a:t>Do not award full credit if 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79" y="4050791"/>
            <a:ext cx="5413248" cy="2286000"/>
          </a:xfrm>
          <a:prstGeom prst="rect">
            <a:avLst/>
          </a:prstGeom>
          <a:noFill/>
        </p:spPr>
        <p:txBody>
          <a:bodyPr wrap="square" lIns="54864" rIns="54864" tIns="0" bIns="36576" anchor="t"/>
          <a:lstStyle/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ASSIGNMENT shows employee participation (0,N) — the spec says every employee is assigned to ≥ 1 center.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M:N left as a single relationship (no composite entity / no associative table).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PROCESS attached to EMPLOYEE rather than SALES_REP (“only sales reps can process orders”).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Procurement PK = (Supplier_ID, Item_ID, Date) — allows two suppliers for the same item on the same date.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Specialization drawn as total (every employee is a manager/rep/assistant) — it is partial.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Attribute ovals on the ER — the assignment asks for ER without attributes.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65392"/>
            <a:ext cx="8686800" cy="2286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900" b="0" i="0" u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Standard solution  ·  ER: Chen notation with (min, max) look-across  ·  No attributes on 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565392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/>
            <a:r>
              <a:rPr sz="900" b="0" i="0" u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