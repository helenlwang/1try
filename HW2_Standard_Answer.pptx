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DDEF36-43C6-4026-B87C-E36D82B4A3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E70F61-B32E-4B36-9155-9ADDA832B5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4954D87-4DF1-44F8-8B96-AC27F39216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3AB43D2-CA9C-4AB3-9F2F-C54D207E40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8A82AA7-66AE-4A51-9B26-02656D2750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9DDCB3C-CF24-4C55-96C0-972402FC48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7337E03-2547-4937-AF77-068CA4BD44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A0071A7-EF19-479C-A7C6-AA74775A86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6CEB73C-7E65-45C5-96EF-139907FB21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C8945AC-44E1-4748-9487-C83AB29472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B45DB79-374B-4479-B0CE-899196C87B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488A7E-5F1F-41C4-9D09-14DC0F3CB4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B555F-C1F7-488E-8FFB-AE6E6987C4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8C9B3-7B88-4BE2-B7DC-5E874CD47B6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758B37-E3C3-49C9-837D-546C1F519B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F1EF9E-09F3-4FA7-BED0-0773ED2EDB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661A65-C51E-4781-BC9A-03280B9DE9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36F2A2-A932-495B-9698-13C74CDF40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C1C9F5-119D-4513-A0F8-338BB6FA19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47FED7-7A47-4590-A23F-88158386E7C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190892-52E0-47C3-BFB8-B20F32A6E4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C8FBEE-4BA6-4C05-818C-32F5558BAB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274320" y="109800"/>
            <a:ext cx="11612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95–703 C  Homework #2   —   Standard Answer:  ER Diagram  (no attributes)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8" name="Connector 2"/>
          <p:cNvCxnSpPr/>
          <p:nvPr/>
        </p:nvCxnSpPr>
        <p:spPr>
          <a:xfrm>
            <a:off x="831960" y="2093760"/>
            <a:ext cx="155484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69" name="Connector 3"/>
          <p:cNvCxnSpPr/>
          <p:nvPr/>
        </p:nvCxnSpPr>
        <p:spPr>
          <a:xfrm>
            <a:off x="2386440" y="2093760"/>
            <a:ext cx="151812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0" name="Connector 4"/>
          <p:cNvCxnSpPr/>
          <p:nvPr/>
        </p:nvCxnSpPr>
        <p:spPr>
          <a:xfrm>
            <a:off x="3904200" y="2093760"/>
            <a:ext cx="360" cy="8049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1" name="Connector 5"/>
          <p:cNvCxnSpPr/>
          <p:nvPr/>
        </p:nvCxnSpPr>
        <p:spPr>
          <a:xfrm flipH="1">
            <a:off x="3895200" y="2898360"/>
            <a:ext cx="9360" cy="80532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2" name="Connector 6"/>
          <p:cNvCxnSpPr/>
          <p:nvPr/>
        </p:nvCxnSpPr>
        <p:spPr>
          <a:xfrm>
            <a:off x="3895200" y="3703320"/>
            <a:ext cx="9360" cy="77760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3" name="Connector 7"/>
          <p:cNvCxnSpPr/>
          <p:nvPr/>
        </p:nvCxnSpPr>
        <p:spPr>
          <a:xfrm>
            <a:off x="3904200" y="4480560"/>
            <a:ext cx="360" cy="7041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4" name="Connector 8"/>
          <p:cNvCxnSpPr/>
          <p:nvPr/>
        </p:nvCxnSpPr>
        <p:spPr>
          <a:xfrm>
            <a:off x="7598520" y="1014840"/>
            <a:ext cx="360" cy="54000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5" name="Connector 9"/>
          <p:cNvCxnSpPr/>
          <p:nvPr/>
        </p:nvCxnSpPr>
        <p:spPr>
          <a:xfrm>
            <a:off x="7598520" y="1554480"/>
            <a:ext cx="360" cy="53964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6" name="Connector 10"/>
          <p:cNvCxnSpPr/>
          <p:nvPr/>
        </p:nvCxnSpPr>
        <p:spPr>
          <a:xfrm>
            <a:off x="7598520" y="2093760"/>
            <a:ext cx="175608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7" name="Connector 11"/>
          <p:cNvCxnSpPr/>
          <p:nvPr/>
        </p:nvCxnSpPr>
        <p:spPr>
          <a:xfrm>
            <a:off x="9354240" y="2093760"/>
            <a:ext cx="177408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8" name="Connector 12"/>
          <p:cNvCxnSpPr/>
          <p:nvPr/>
        </p:nvCxnSpPr>
        <p:spPr>
          <a:xfrm flipH="1">
            <a:off x="5952600" y="2093760"/>
            <a:ext cx="1646280" cy="46692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79" name="Connector 13"/>
          <p:cNvCxnSpPr/>
          <p:nvPr/>
        </p:nvCxnSpPr>
        <p:spPr>
          <a:xfrm flipH="1">
            <a:off x="3895200" y="2560320"/>
            <a:ext cx="2057760" cy="1143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0" name="Connector 14"/>
          <p:cNvCxnSpPr/>
          <p:nvPr/>
        </p:nvCxnSpPr>
        <p:spPr>
          <a:xfrm>
            <a:off x="3895200" y="3703320"/>
            <a:ext cx="194796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1" name="Connector 15"/>
          <p:cNvCxnSpPr/>
          <p:nvPr/>
        </p:nvCxnSpPr>
        <p:spPr>
          <a:xfrm>
            <a:off x="5842800" y="3703320"/>
            <a:ext cx="177444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2" name="Connector 16"/>
          <p:cNvCxnSpPr/>
          <p:nvPr/>
        </p:nvCxnSpPr>
        <p:spPr>
          <a:xfrm>
            <a:off x="7616880" y="3703320"/>
            <a:ext cx="168264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3" name="Connector 17"/>
          <p:cNvCxnSpPr/>
          <p:nvPr/>
        </p:nvCxnSpPr>
        <p:spPr>
          <a:xfrm>
            <a:off x="9299160" y="3703320"/>
            <a:ext cx="1545840" cy="36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4" name="Connector 18"/>
          <p:cNvCxnSpPr/>
          <p:nvPr/>
        </p:nvCxnSpPr>
        <p:spPr>
          <a:xfrm>
            <a:off x="7616880" y="3703320"/>
            <a:ext cx="360" cy="76824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5" name="Connector 19"/>
          <p:cNvCxnSpPr/>
          <p:nvPr/>
        </p:nvCxnSpPr>
        <p:spPr>
          <a:xfrm>
            <a:off x="7616880" y="4471200"/>
            <a:ext cx="360" cy="71352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6" name="Connector 20"/>
          <p:cNvCxnSpPr/>
          <p:nvPr/>
        </p:nvCxnSpPr>
        <p:spPr>
          <a:xfrm>
            <a:off x="10844640" y="3703320"/>
            <a:ext cx="960480" cy="53064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7" name="Connector 21"/>
          <p:cNvCxnSpPr/>
          <p:nvPr/>
        </p:nvCxnSpPr>
        <p:spPr>
          <a:xfrm flipH="1" flipV="1">
            <a:off x="11127960" y="2093760"/>
            <a:ext cx="677160" cy="214020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8" name="Connector 22"/>
          <p:cNvCxnSpPr/>
          <p:nvPr/>
        </p:nvCxnSpPr>
        <p:spPr>
          <a:xfrm flipH="1">
            <a:off x="7616880" y="4233600"/>
            <a:ext cx="4188240" cy="95112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cxnSp>
        <p:nvCxnSpPr>
          <p:cNvPr id="89" name="Connector 23"/>
          <p:cNvCxnSpPr/>
          <p:nvPr/>
        </p:nvCxnSpPr>
        <p:spPr>
          <a:xfrm flipH="1">
            <a:off x="10680120" y="4233600"/>
            <a:ext cx="1125000" cy="951120"/>
          </a:xfrm>
          <a:prstGeom prst="straightConnector1">
            <a:avLst/>
          </a:prstGeom>
          <a:ln w="9525">
            <a:solidFill>
              <a:srgbClr val="000000"/>
            </a:solidFill>
          </a:ln>
        </p:spPr>
      </p:cxnSp>
      <p:sp>
        <p:nvSpPr>
          <p:cNvPr id="90" name="Rectangle 24"/>
          <p:cNvSpPr/>
          <p:nvPr/>
        </p:nvSpPr>
        <p:spPr>
          <a:xfrm>
            <a:off x="182880" y="1920240"/>
            <a:ext cx="129816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SUPPLIER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25"/>
          <p:cNvSpPr/>
          <p:nvPr/>
        </p:nvSpPr>
        <p:spPr>
          <a:xfrm>
            <a:off x="3310200" y="1920240"/>
            <a:ext cx="118836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ITEM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26"/>
          <p:cNvSpPr/>
          <p:nvPr/>
        </p:nvSpPr>
        <p:spPr>
          <a:xfrm>
            <a:off x="3200400" y="3529440"/>
            <a:ext cx="138960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PRODUCT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27"/>
          <p:cNvSpPr/>
          <p:nvPr/>
        </p:nvSpPr>
        <p:spPr>
          <a:xfrm>
            <a:off x="3127320" y="5010840"/>
            <a:ext cx="155412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PRODUCT_LINE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ectangle 28"/>
          <p:cNvSpPr/>
          <p:nvPr/>
        </p:nvSpPr>
        <p:spPr>
          <a:xfrm>
            <a:off x="6903720" y="841320"/>
            <a:ext cx="138960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CUSTOMER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29"/>
          <p:cNvSpPr/>
          <p:nvPr/>
        </p:nvSpPr>
        <p:spPr>
          <a:xfrm>
            <a:off x="6903720" y="1920240"/>
            <a:ext cx="138960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ORDER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30"/>
          <p:cNvSpPr/>
          <p:nvPr/>
        </p:nvSpPr>
        <p:spPr>
          <a:xfrm>
            <a:off x="10405800" y="1920240"/>
            <a:ext cx="144432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SALES_REP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31"/>
          <p:cNvSpPr/>
          <p:nvPr/>
        </p:nvSpPr>
        <p:spPr>
          <a:xfrm>
            <a:off x="6839640" y="3529440"/>
            <a:ext cx="155412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WORK_CENTER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 32"/>
          <p:cNvSpPr/>
          <p:nvPr/>
        </p:nvSpPr>
        <p:spPr>
          <a:xfrm>
            <a:off x="10195560" y="3529440"/>
            <a:ext cx="129816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EMPLOYEE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33"/>
          <p:cNvSpPr/>
          <p:nvPr/>
        </p:nvSpPr>
        <p:spPr>
          <a:xfrm>
            <a:off x="6931080" y="5010840"/>
            <a:ext cx="137124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MANAGER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 34"/>
          <p:cNvSpPr/>
          <p:nvPr/>
        </p:nvSpPr>
        <p:spPr>
          <a:xfrm>
            <a:off x="9802440" y="5010840"/>
            <a:ext cx="1755360" cy="34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ADMIN_ASSISTANT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35"/>
          <p:cNvSpPr/>
          <p:nvPr/>
        </p:nvSpPr>
        <p:spPr>
          <a:xfrm>
            <a:off x="1645920" y="1883520"/>
            <a:ext cx="1481040" cy="42012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PROCUREMENT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36"/>
          <p:cNvSpPr/>
          <p:nvPr/>
        </p:nvSpPr>
        <p:spPr>
          <a:xfrm>
            <a:off x="3154680" y="2670120"/>
            <a:ext cx="1499400" cy="4568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PRODUCT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ASSEMBLY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37"/>
          <p:cNvSpPr/>
          <p:nvPr/>
        </p:nvSpPr>
        <p:spPr>
          <a:xfrm>
            <a:off x="5230440" y="2359080"/>
            <a:ext cx="1444320" cy="40212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ORDER_LINE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38"/>
          <p:cNvSpPr/>
          <p:nvPr/>
        </p:nvSpPr>
        <p:spPr>
          <a:xfrm>
            <a:off x="8577000" y="3493080"/>
            <a:ext cx="1444320" cy="42012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ASSIGNMENT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Diamond 39"/>
          <p:cNvSpPr/>
          <p:nvPr/>
        </p:nvSpPr>
        <p:spPr>
          <a:xfrm>
            <a:off x="3072240" y="4187880"/>
            <a:ext cx="1663920" cy="585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rIns="12816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INCLUDE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Diamond 40"/>
          <p:cNvSpPr/>
          <p:nvPr/>
        </p:nvSpPr>
        <p:spPr>
          <a:xfrm>
            <a:off x="6784920" y="1280160"/>
            <a:ext cx="1627200" cy="5482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rIns="12816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SUBMIT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Diamond 41"/>
          <p:cNvSpPr/>
          <p:nvPr/>
        </p:nvSpPr>
        <p:spPr>
          <a:xfrm>
            <a:off x="8485560" y="1801440"/>
            <a:ext cx="1737000" cy="585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rIns="12816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PROCESS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Diamond 42"/>
          <p:cNvSpPr/>
          <p:nvPr/>
        </p:nvSpPr>
        <p:spPr>
          <a:xfrm>
            <a:off x="5010840" y="3410640"/>
            <a:ext cx="1663920" cy="5850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rIns="12816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PRODUCE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Diamond 43"/>
          <p:cNvSpPr/>
          <p:nvPr/>
        </p:nvSpPr>
        <p:spPr>
          <a:xfrm>
            <a:off x="6839640" y="4187880"/>
            <a:ext cx="1554120" cy="5666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rIns="12816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MANAGE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Oval 44"/>
          <p:cNvSpPr/>
          <p:nvPr/>
        </p:nvSpPr>
        <p:spPr>
          <a:xfrm>
            <a:off x="11594520" y="4023360"/>
            <a:ext cx="420120" cy="42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45"/>
          <p:cNvSpPr/>
          <p:nvPr/>
        </p:nvSpPr>
        <p:spPr>
          <a:xfrm>
            <a:off x="1353240" y="16826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 46"/>
          <p:cNvSpPr/>
          <p:nvPr/>
        </p:nvSpPr>
        <p:spPr>
          <a:xfrm>
            <a:off x="1353240" y="230436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(0,N)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47"/>
          <p:cNvSpPr/>
          <p:nvPr/>
        </p:nvSpPr>
        <p:spPr>
          <a:xfrm>
            <a:off x="2926080" y="16826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(0,N)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48"/>
          <p:cNvSpPr/>
          <p:nvPr/>
        </p:nvSpPr>
        <p:spPr>
          <a:xfrm>
            <a:off x="2926080" y="230436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49"/>
          <p:cNvSpPr/>
          <p:nvPr/>
        </p:nvSpPr>
        <p:spPr>
          <a:xfrm>
            <a:off x="4526280" y="19202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50"/>
          <p:cNvSpPr/>
          <p:nvPr/>
        </p:nvSpPr>
        <p:spPr>
          <a:xfrm>
            <a:off x="2633400" y="269748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51"/>
          <p:cNvSpPr/>
          <p:nvPr/>
        </p:nvSpPr>
        <p:spPr>
          <a:xfrm>
            <a:off x="2633400" y="310896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52"/>
          <p:cNvSpPr/>
          <p:nvPr/>
        </p:nvSpPr>
        <p:spPr>
          <a:xfrm>
            <a:off x="2633400" y="35294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 53"/>
          <p:cNvSpPr/>
          <p:nvPr/>
        </p:nvSpPr>
        <p:spPr>
          <a:xfrm>
            <a:off x="4773240" y="43160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54"/>
          <p:cNvSpPr/>
          <p:nvPr/>
        </p:nvSpPr>
        <p:spPr>
          <a:xfrm>
            <a:off x="4773240" y="50108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55"/>
          <p:cNvSpPr/>
          <p:nvPr/>
        </p:nvSpPr>
        <p:spPr>
          <a:xfrm>
            <a:off x="8339400" y="85968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56"/>
          <p:cNvSpPr/>
          <p:nvPr/>
        </p:nvSpPr>
        <p:spPr>
          <a:xfrm>
            <a:off x="6400800" y="193860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(0,N)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57"/>
          <p:cNvSpPr/>
          <p:nvPr/>
        </p:nvSpPr>
        <p:spPr>
          <a:xfrm>
            <a:off x="6419160" y="22676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58"/>
          <p:cNvSpPr/>
          <p:nvPr/>
        </p:nvSpPr>
        <p:spPr>
          <a:xfrm>
            <a:off x="5870520" y="276156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59"/>
          <p:cNvSpPr/>
          <p:nvPr/>
        </p:nvSpPr>
        <p:spPr>
          <a:xfrm>
            <a:off x="5074920" y="217620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(0,N)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60"/>
          <p:cNvSpPr/>
          <p:nvPr/>
        </p:nvSpPr>
        <p:spPr>
          <a:xfrm>
            <a:off x="4617720" y="320040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61"/>
          <p:cNvSpPr/>
          <p:nvPr/>
        </p:nvSpPr>
        <p:spPr>
          <a:xfrm>
            <a:off x="8339400" y="162756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(0,N)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62"/>
          <p:cNvSpPr/>
          <p:nvPr/>
        </p:nvSpPr>
        <p:spPr>
          <a:xfrm>
            <a:off x="10168200" y="162756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63"/>
          <p:cNvSpPr/>
          <p:nvPr/>
        </p:nvSpPr>
        <p:spPr>
          <a:xfrm>
            <a:off x="4709160" y="38588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(0,N)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64"/>
          <p:cNvSpPr/>
          <p:nvPr/>
        </p:nvSpPr>
        <p:spPr>
          <a:xfrm>
            <a:off x="6583680" y="324612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65"/>
          <p:cNvSpPr/>
          <p:nvPr/>
        </p:nvSpPr>
        <p:spPr>
          <a:xfrm>
            <a:off x="8394120" y="324612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66"/>
          <p:cNvSpPr/>
          <p:nvPr/>
        </p:nvSpPr>
        <p:spPr>
          <a:xfrm>
            <a:off x="8394120" y="391356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(5,N)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67"/>
          <p:cNvSpPr/>
          <p:nvPr/>
        </p:nvSpPr>
        <p:spPr>
          <a:xfrm>
            <a:off x="9921240" y="391356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68"/>
          <p:cNvSpPr/>
          <p:nvPr/>
        </p:nvSpPr>
        <p:spPr>
          <a:xfrm>
            <a:off x="9921240" y="324612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 69"/>
          <p:cNvSpPr/>
          <p:nvPr/>
        </p:nvSpPr>
        <p:spPr>
          <a:xfrm>
            <a:off x="8430840" y="429768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70"/>
          <p:cNvSpPr/>
          <p:nvPr/>
        </p:nvSpPr>
        <p:spPr>
          <a:xfrm>
            <a:off x="8430840" y="5010840"/>
            <a:ext cx="502560" cy="21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(1,1)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71"/>
          <p:cNvSpPr/>
          <p:nvPr/>
        </p:nvSpPr>
        <p:spPr>
          <a:xfrm>
            <a:off x="201240" y="5532120"/>
            <a:ext cx="365400" cy="23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72"/>
          <p:cNvSpPr/>
          <p:nvPr/>
        </p:nvSpPr>
        <p:spPr>
          <a:xfrm>
            <a:off x="640080" y="553212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73"/>
          <p:cNvSpPr/>
          <p:nvPr/>
        </p:nvSpPr>
        <p:spPr>
          <a:xfrm>
            <a:off x="201240" y="5833800"/>
            <a:ext cx="365400" cy="23724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74"/>
          <p:cNvSpPr/>
          <p:nvPr/>
        </p:nvSpPr>
        <p:spPr>
          <a:xfrm>
            <a:off x="640080" y="58338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Composite entity (from M:N)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Diamond 75"/>
          <p:cNvSpPr/>
          <p:nvPr/>
        </p:nvSpPr>
        <p:spPr>
          <a:xfrm>
            <a:off x="146160" y="6108120"/>
            <a:ext cx="456840" cy="31068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rIns="128160" tIns="18360" bIns="183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76"/>
          <p:cNvSpPr/>
          <p:nvPr/>
        </p:nvSpPr>
        <p:spPr>
          <a:xfrm>
            <a:off x="640080" y="61448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Relationship (1:1 or 1:N)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77"/>
          <p:cNvSpPr/>
          <p:nvPr/>
        </p:nvSpPr>
        <p:spPr>
          <a:xfrm>
            <a:off x="3246120" y="6144840"/>
            <a:ext cx="502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  =  overlapping, partial specialization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365760" y="109800"/>
            <a:ext cx="11429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95–703 C  Homework #2   —   Standard Answer:  Relational Schema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365760" y="457200"/>
            <a:ext cx="11429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PK underlined.   FK marked with @.   Identifying FK that is also part of the PK is both underlined and tagged @.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365760" y="822960"/>
            <a:ext cx="5668920" cy="50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Supplier: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Supplier_ID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Supplier_Name,  Supplier_Address,  Supplier_Phone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Procurement: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Item_ID@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Procurement_Date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Supplier_ID@,  Quantity,  Unit_Price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Item: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Item_ID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Description,  Average_Unit_Cost,  Units_On_Hand,  Reorder_Point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Product_Assembly: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Product_ID@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Item_ID@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Quantity_Needed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Product: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Product_ID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Product_Name,  Product_Line_ID@,  Work_Center_ID@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Product_Line: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Product_Line_ID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Product_Line_Name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Customer: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Customer_ID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Customer_Name,  Customer_Email,  Customer_Address,  Customer_Phone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Order: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Order_ID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Order_Date,  Customer_ID@,  Sales_Rep_ID@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6126480" y="822960"/>
            <a:ext cx="5668920" cy="50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Order_Line: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Order_ID@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Product_ID@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Quantity_Ordered,  Unit_Price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Work_Center: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Work_Center_ID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Work_Center_Name,  Manager_ID@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Assignment: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Employee_ID@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Work_Center_ID@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Employee: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Employee_ID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First_Name,  Last_Name,  Address,  Salary,  Title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Manager: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Employee_ID@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Driver_License,  Budget_Amount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Admin_Assistant: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Employee_ID@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Accounting_Training,  MS_Office_Level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799"/>
              </a:spcBef>
              <a:spcAft>
                <a:spcPts val="201"/>
              </a:spcAft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Sales_Rep:  </a:t>
            </a:r>
            <a:r>
              <a:rPr b="0" lang="en-US" sz="1600" spc="-1" strike="noStrike" u="sng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Employee_ID@</a:t>
            </a:r>
            <a:r>
              <a:rPr b="0" lang="en-US" sz="1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 Sales_Area,  Email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365760" y="5989320"/>
            <a:ext cx="11429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 anchor="t">
            <a:noAutofit/>
          </a:bodyPr>
          <a:p>
            <a:pPr defTabSz="9144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Notes:  Work_Center.Manager_ID@ is unique (1:1 with Manager).  Customer_Email may be null for potential customers.  Procurement PK = (Item_ID, Procurement_Date) so that at a given date an item has only one supplier.  Assignment: employee (1,N), work center (5,N).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56</Words>
  <Paragraphs>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2019-01-15T00:29:31Z</dcterms:created>
  <dc:creator>TA Standard Answer</dc:creator>
  <dc:description/>
  <dc:language>en-US</dc:language>
  <cp:lastModifiedBy>Janusz Szczypula</cp:lastModifiedBy>
  <dcterms:modified xsi:type="dcterms:W3CDTF">2019-01-15T00:30:27Z</dcterms:modified>
  <cp:revision>1</cp:revision>
  <dc:subject>ER diagram and relational schema</dc:subject>
  <dc:title>95-703 C Homework #2 Standard Answer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</vt:r8>
  </property>
</Properties>
</file>